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de017382b411c" /><Relationship Type="http://schemas.openxmlformats.org/officeDocument/2006/relationships/extended-properties" Target="/docProps/app.xml" Id="Rf9dd77859f544201" /><Relationship Type="http://schemas.openxmlformats.org/officeDocument/2006/relationships/officeDocument" Target="/ppt/presentation.xml" Id="Rb18d927b1a8b4d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5939b4f864c91"/>
  </p:sldMasterIdLst>
  <p:notesMasterIdLst>
    <p:notesMasterId xmlns:r="http://schemas.openxmlformats.org/officeDocument/2006/relationships" r:id="Rbe5651a582ed4e98"/>
  </p:notesMasterIdLst>
  <p:sldIdLst>
    <p:sldId xmlns:r="http://schemas.openxmlformats.org/officeDocument/2006/relationships" id="256" r:id="Ra9e18132b4e941c3"/>
    <p:sldId xmlns:r="http://schemas.openxmlformats.org/officeDocument/2006/relationships" id="257" r:id="Rb65975fc053a45b9"/>
    <p:sldId xmlns:r="http://schemas.openxmlformats.org/officeDocument/2006/relationships" id="258" r:id="Rea82edd9126f4c17"/>
    <p:sldId xmlns:r="http://schemas.openxmlformats.org/officeDocument/2006/relationships" id="259" r:id="Recd62111d6304461"/>
    <p:sldId xmlns:r="http://schemas.openxmlformats.org/officeDocument/2006/relationships" id="260" r:id="Rd5ecacd62bcd4feb"/>
    <p:sldId xmlns:r="http://schemas.openxmlformats.org/officeDocument/2006/relationships" id="261" r:id="R88759bf2b0484d3e"/>
    <p:sldId xmlns:r="http://schemas.openxmlformats.org/officeDocument/2006/relationships" id="262" r:id="R7062d92f7c9e44ac"/>
    <p:sldId xmlns:r="http://schemas.openxmlformats.org/officeDocument/2006/relationships" id="263" r:id="R728cbc22a303436e"/>
    <p:sldId xmlns:r="http://schemas.openxmlformats.org/officeDocument/2006/relationships" id="264" r:id="R69ced8e0e963483d"/>
    <p:sldId xmlns:r="http://schemas.openxmlformats.org/officeDocument/2006/relationships" id="265" r:id="R7a54c98f0b444929"/>
  </p:sldIdLst>
  <p:sldSz cx="12191675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95C527E2-98D0-4977-A59E-6C146F718308}">
  <a:tblStyle styleId="{95C527E2-98D0-4977-A59E-6C146F7183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4d3bdf5454b1c" /><Relationship Type="http://schemas.openxmlformats.org/officeDocument/2006/relationships/slideMaster" Target="/ppt/slideMasters/slideMaster1.xml" Id="R22b5939b4f864c91" /><Relationship Type="http://schemas.openxmlformats.org/officeDocument/2006/relationships/notesMaster" Target="/ppt/notesMasters/notesMaster1.xml" Id="Rbe5651a582ed4e98" /><Relationship Type="http://schemas.openxmlformats.org/officeDocument/2006/relationships/presProps" Target="/ppt/presProps.xml" Id="R8d3d7db1d9864b7d" /><Relationship Type="http://schemas.openxmlformats.org/officeDocument/2006/relationships/viewProps" Target="/ppt/viewProps.xml" Id="R6b0d765dc6b24d3a" /><Relationship Type="http://schemas.openxmlformats.org/officeDocument/2006/relationships/tableStyles" Target="/ppt/tableStyles.xml" Id="R10ee495d1b074b93" /><Relationship Type="http://schemas.openxmlformats.org/officeDocument/2006/relationships/slide" Target="/ppt/slides/slide1.xml" Id="Ra9e18132b4e941c3" /><Relationship Type="http://schemas.openxmlformats.org/officeDocument/2006/relationships/slide" Target="/ppt/slides/slide2.xml" Id="Rb65975fc053a45b9" /><Relationship Type="http://schemas.openxmlformats.org/officeDocument/2006/relationships/slide" Target="/ppt/slides/slide3.xml" Id="Rea82edd9126f4c17" /><Relationship Type="http://schemas.openxmlformats.org/officeDocument/2006/relationships/slide" Target="/ppt/slides/slide4.xml" Id="Recd62111d6304461" /><Relationship Type="http://schemas.openxmlformats.org/officeDocument/2006/relationships/slide" Target="/ppt/slides/slide5.xml" Id="Rd5ecacd62bcd4feb" /><Relationship Type="http://schemas.openxmlformats.org/officeDocument/2006/relationships/slide" Target="/ppt/slides/slide6.xml" Id="R88759bf2b0484d3e" /><Relationship Type="http://schemas.openxmlformats.org/officeDocument/2006/relationships/slide" Target="/ppt/slides/slide7.xml" Id="R7062d92f7c9e44ac" /><Relationship Type="http://schemas.openxmlformats.org/officeDocument/2006/relationships/slide" Target="/ppt/slides/slide8.xml" Id="R728cbc22a303436e" /><Relationship Type="http://schemas.openxmlformats.org/officeDocument/2006/relationships/slide" Target="/ppt/slides/slide9.xml" Id="R69ced8e0e963483d" /><Relationship Type="http://schemas.openxmlformats.org/officeDocument/2006/relationships/slide" Target="/ppt/slides/slide10.xml" Id="R7a54c98f0b44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7587c2752b49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cfccfa5b54e3e" /><Relationship Type="http://schemas.openxmlformats.org/officeDocument/2006/relationships/notesMaster" Target="/ppt/notesMasters/notesMaster1.xml" Id="R427dae5430284e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b2d82921e64570" /><Relationship Type="http://schemas.openxmlformats.org/officeDocument/2006/relationships/notesMaster" Target="/ppt/notesMasters/notesMaster1.xml" Id="R1e30343c6f5a43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1c81b3cd341f5" /><Relationship Type="http://schemas.openxmlformats.org/officeDocument/2006/relationships/notesMaster" Target="/ppt/notesMasters/notesMaster1.xml" Id="R750c18eca2e14f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c73cf4fd354188" /><Relationship Type="http://schemas.openxmlformats.org/officeDocument/2006/relationships/notesMaster" Target="/ppt/notesMasters/notesMaster1.xml" Id="Rc392a4108e7a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9642faf3304b3a" /><Relationship Type="http://schemas.openxmlformats.org/officeDocument/2006/relationships/notesMaster" Target="/ppt/notesMasters/notesMaster1.xml" Id="Ra83ffef7208d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9f591859734859" /><Relationship Type="http://schemas.openxmlformats.org/officeDocument/2006/relationships/notesMaster" Target="/ppt/notesMasters/notesMaster1.xml" Id="Re63c45aa7a34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610e1405f4b48" /><Relationship Type="http://schemas.openxmlformats.org/officeDocument/2006/relationships/notesMaster" Target="/ppt/notesMasters/notesMaster1.xml" Id="Rea0f8932b59a41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627b7d6084bc0" /><Relationship Type="http://schemas.openxmlformats.org/officeDocument/2006/relationships/notesMaster" Target="/ppt/notesMasters/notesMaster1.xml" Id="Rcccf1635146842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bef647e73a4324" /><Relationship Type="http://schemas.openxmlformats.org/officeDocument/2006/relationships/notesMaster" Target="/ppt/notesMasters/notesMaster1.xml" Id="R89f2ff5a4ea141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20af7c6702454f" /><Relationship Type="http://schemas.openxmlformats.org/officeDocument/2006/relationships/notesMaster" Target="/ppt/notesMasters/notesMaster1.xml" Id="Rdc31e1d770b5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Джерела для перевірки тверджень про ШІ: Європейська Комісія, Article 50 transparency obligations FAQ — https://digital-strategy.ec.europa.eu/en/faqs/transparency-obligations-under-article-50-ai-act ; Erasmus+ Programme Guide 2026 — https://erasmus-plus.ec.europa.eu/sites/default/files/2025-11/programme-guide-2026_en.pdf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117c3287c47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42f15fa5748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50394556e44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e9715c2cf4f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618dcb5d94e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cd20b5d6c4a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503d3adc44f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23d272fad4f4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806f38d1840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d6c0935ac42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293ee4407447f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16D26F-5AB1-4AF6-A307-CBEF6EC34E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8CAA2AF9-271B-44B6-8BE4-63E022A2F5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E9F24B51-8A24-4563-820E-FF408B12FF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D7C60E0B-B3D0-4B61-9F85-BB93F1D6D3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53872E09-1EC3-449E-B890-6505F7EDFD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FA73D029-0916-456C-8434-08996BC5A6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02A8145-AE86-4EF8-8D66-83B8A951B3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A55F880-8325-49B7-9B55-79415E23CD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6D954139-A61D-422B-A674-C5371FAAC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4F1B0640-DE41-4D2E-9973-0EC13DA817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DF2C5D88-7DDB-4E21-A430-5033B43CE7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08748AFA-D353-4144-9CA1-5617016D2A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0F00FB2-D3AA-486A-B676-FDFC002988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C35683E1-BB49-425F-B697-9D6BC8C7E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4C963E59-4900-41A6-ACD3-B55F194FC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A99F13FA-919A-4ACE-B912-BC4FBC1092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F02875DC-11A1-45F3-BDC3-C9DD4202B9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304BC85D-3BB3-4235-96B1-356EE8DE6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226BF718-2D91-408D-AF82-D7680420C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50003C75-7940-49AF-927B-30170C2D5D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ADBA39B0-798C-491C-85B7-3D24451610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F98E6C6F-7272-4213-A2CB-470C93006C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C3D320D2-66B5-446F-BA83-E1A5722B92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57EADF7C-3FEA-41FD-A51E-73206B469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172644CB-27EA-46B1-9C41-00FCC1C63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DACF9B5A-3571-46C9-8F8A-7295007CB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81AEE08B-F270-4B13-985A-1BB80808CE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F2493875-F843-4779-B2C9-49DE3D75E1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5F21A383-86BE-4EE2-8DC4-9A628381CAA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32CA4835-93AE-4D37-B05E-2B7C7A433D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241C38E1-6997-4A00-A7DF-8C668351E0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71A18DB3-6CE1-47B1-B0D4-5E8E285B9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B6B27CE8-03EE-48DB-9B2D-965DE6F7B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9819F5D8-3DA1-4B22-9D6F-E3F639F89F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4627C010-0C9D-40AB-ADEC-432261326C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9C386DBF-1655-42BB-8A11-782E401AEB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8440887E-EA13-4AEB-B913-8549DF66D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545399E6-4E35-485D-BCEE-71099171E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182B20F8-CDA8-42EA-B9EC-C5E9449C9C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DBEE8D69-9B18-4418-B150-896A54C990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E28A7A09-F3F0-4D4A-ABFD-4EF96C59D1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DD12E016-2078-45C1-8F5E-D72CBEAFA8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6DB21CB9-6E4F-4F0A-9F74-A61F3A4B2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460EA75E-B07D-4BCD-9101-FDDA18AA2E0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9AF76F72-8194-486E-9720-C4BDFA3DB6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C62C037C-91DB-46C2-9532-78AD901A25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56BB5A65-D152-48AB-AE59-81832C987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A2C02889-74E2-4296-83F1-5E53DF3CCC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D775A3EF-247D-40BA-8003-98188B412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68CC53DE-1064-46AD-9D01-63E3B308EC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DB4FBBAF-7C7D-4AE4-B407-1902D6509E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448973B3-7BA1-4D0E-8577-9F3D98B682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C3B7F6D8-3E19-4701-A231-773440672F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FDC8E7FA-0A13-41B2-9445-E91C4BE83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1440E8A9-8061-4A7F-923D-71330BF252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69BA4098-4B1D-4635-BC93-683E6BF6E9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D407D3B2-3479-4A76-B5C3-5637A6D280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A1D5E4C2-5E53-41D3-A94A-4F9CC4715E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84344350444d6" /><Relationship Type="http://schemas.openxmlformats.org/officeDocument/2006/relationships/slideLayout" Target="/ppt/slideLayouts/slideLayout1.xml" Id="R967a8faa5da34e0e" /><Relationship Type="http://schemas.openxmlformats.org/officeDocument/2006/relationships/slideLayout" Target="/ppt/slideLayouts/slideLayout2.xml" Id="R5dd058f594a64ec9" /><Relationship Type="http://schemas.openxmlformats.org/officeDocument/2006/relationships/slideLayout" Target="/ppt/slideLayouts/slideLayout3.xml" Id="Raa4fbf18969b460c" /><Relationship Type="http://schemas.openxmlformats.org/officeDocument/2006/relationships/slideLayout" Target="/ppt/slideLayouts/slideLayout4.xml" Id="R248301f51c8e4fec" /><Relationship Type="http://schemas.openxmlformats.org/officeDocument/2006/relationships/slideLayout" Target="/ppt/slideLayouts/slideLayout5.xml" Id="R9d29f5b2d6244b36" /><Relationship Type="http://schemas.openxmlformats.org/officeDocument/2006/relationships/slideLayout" Target="/ppt/slideLayouts/slideLayout6.xml" Id="R8849bd7fd93a43fd" /><Relationship Type="http://schemas.openxmlformats.org/officeDocument/2006/relationships/slideLayout" Target="/ppt/slideLayouts/slideLayout7.xml" Id="Rd4cab29c4a9a4e3b" /><Relationship Type="http://schemas.openxmlformats.org/officeDocument/2006/relationships/slideLayout" Target="/ppt/slideLayouts/slideLayout8.xml" Id="R4af5cc17a6e9495f" /><Relationship Type="http://schemas.openxmlformats.org/officeDocument/2006/relationships/slideLayout" Target="/ppt/slideLayouts/slideLayout9.xml" Id="R288093d2088a4413" /><Relationship Type="http://schemas.openxmlformats.org/officeDocument/2006/relationships/slideLayout" Target="/ppt/slideLayouts/slideLayout10.xml" Id="Rd01a22334784485a" /><Relationship Type="http://schemas.openxmlformats.org/officeDocument/2006/relationships/slideLayout" Target="/ppt/slideLayouts/slideLayout11.xml" Id="R887701d28eb84a8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6EFBD51-B6BA-429C-833A-A796B9EB9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FDE698D-6CC3-4046-9464-515389550D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F29AB80-644E-41F7-B17E-547907A87C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80ECB657-3A7C-4370-817B-848082793E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3BE8384-313B-47E8-8326-77ADBD6062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7a8faa5da34e0e"/>
    <p:sldLayoutId xmlns:r="http://schemas.openxmlformats.org/officeDocument/2006/relationships" id="2147483650" r:id="R5dd058f594a64ec9"/>
    <p:sldLayoutId xmlns:r="http://schemas.openxmlformats.org/officeDocument/2006/relationships" id="2147483651" r:id="Raa4fbf18969b460c"/>
    <p:sldLayoutId xmlns:r="http://schemas.openxmlformats.org/officeDocument/2006/relationships" id="2147483652" r:id="R248301f51c8e4fec"/>
    <p:sldLayoutId xmlns:r="http://schemas.openxmlformats.org/officeDocument/2006/relationships" id="2147483653" r:id="R9d29f5b2d6244b36"/>
    <p:sldLayoutId xmlns:r="http://schemas.openxmlformats.org/officeDocument/2006/relationships" id="2147483654" r:id="R8849bd7fd93a43fd"/>
    <p:sldLayoutId xmlns:r="http://schemas.openxmlformats.org/officeDocument/2006/relationships" id="2147483655" r:id="Rd4cab29c4a9a4e3b"/>
    <p:sldLayoutId xmlns:r="http://schemas.openxmlformats.org/officeDocument/2006/relationships" id="2147483656" r:id="R4af5cc17a6e9495f"/>
    <p:sldLayoutId xmlns:r="http://schemas.openxmlformats.org/officeDocument/2006/relationships" id="2147483657" r:id="R288093d2088a4413"/>
    <p:sldLayoutId xmlns:r="http://schemas.openxmlformats.org/officeDocument/2006/relationships" id="2147483658" r:id="Rd01a22334784485a"/>
    <p:sldLayoutId xmlns:r="http://schemas.openxmlformats.org/officeDocument/2006/relationships" id="2147483659" r:id="R887701d28eb84a8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de8edfba54d89" /><Relationship Type="http://schemas.openxmlformats.org/officeDocument/2006/relationships/notesSlide" Target="/ppt/notesSlides/notesSlide1.xml" Id="R321ede462d35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cf5359ea544a1" /><Relationship Type="http://schemas.openxmlformats.org/officeDocument/2006/relationships/notesSlide" Target="/ppt/notesSlides/notesSlide2.xml" Id="R1dd106826975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dfd4980804aa3" /><Relationship Type="http://schemas.openxmlformats.org/officeDocument/2006/relationships/notesSlide" Target="/ppt/notesSlides/notesSlide3.xml" Id="Rc7271fde4182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fd7cc9c8a4946" /><Relationship Type="http://schemas.openxmlformats.org/officeDocument/2006/relationships/notesSlide" Target="/ppt/notesSlides/notesSlide4.xml" Id="Rafae953622e84e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1db9b980e4b93" /><Relationship Type="http://schemas.openxmlformats.org/officeDocument/2006/relationships/notesSlide" Target="/ppt/notesSlides/notesSlide5.xml" Id="R58a095a2ef864f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daf9b8154a01" /><Relationship Type="http://schemas.openxmlformats.org/officeDocument/2006/relationships/notesSlide" Target="/ppt/notesSlides/notesSlide6.xml" Id="Rb0b0dd0615f242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0557bde524cdc" /><Relationship Type="http://schemas.openxmlformats.org/officeDocument/2006/relationships/notesSlide" Target="/ppt/notesSlides/notesSlide7.xml" Id="Rcc5190920b27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e2bf2385f4790" /><Relationship Type="http://schemas.openxmlformats.org/officeDocument/2006/relationships/notesSlide" Target="/ppt/notesSlides/notesSlide8.xml" Id="Rb1cb3135ee0f41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81a49a5040d1" /><Relationship Type="http://schemas.openxmlformats.org/officeDocument/2006/relationships/notesSlide" Target="/ppt/notesSlides/notesSlide9.xml" Id="R291bb4e47ce846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27fc9bc6642dc" /><Relationship Type="http://schemas.openxmlformats.org/officeDocument/2006/relationships/notesSlide" Target="/ppt/notesSlides/notesSlide10.xml" Id="R6304d4d51cf7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6F5C6B73-C26F-4A32-8FA0-B690D76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628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АКАДЕМІЯ ПРАЦІ, СОЦІАЛЬНИХ ВІДНОСИН І ТУРИЗМУ</a:t>
            </a:r>
            <a:br>
              <a:rPr sz="1400" b="1" i="0" u="none" strike="noStrike" cap="none">
                <a:solidFill>
                  <a:srgbClr val="BAE6FD"/>
                </a:solidFill>
                <a:latin typeface="Calibri"/>
                <a:ea typeface="Calibri"/>
                <a:cs typeface="Calibri"/>
              </a:rPr>
            </a:br>
            <a:r>
              <a:rPr sz="1400" b="1" i="0" u="none" strike="noStrike" cap="none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ВІДДІЛ МІЖНАРОДНОГО СПІВРОБІТНИЦТВА</a:t>
            </a:r>
            <a:endParaRPr/>
          </a:p>
        </p:txBody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744AC704-6A3E-48BC-861E-EA29240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1036289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ВИКОРИСТАННЯ ШІ: РЕСУРСИ ДЛЯ САМОСТІЙНОГО НАВЧАННЯ</a:t>
            </a:r>
            <a:endParaRPr/>
          </a:p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56B29C51-70FE-4760-AECF-DA1C6D6F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36289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cap="none">
                <a:solidFill>
                  <a:srgbClr val="BAE6FD"/>
                </a:solidFill>
                <a:latin typeface="Calibri"/>
                <a:ea typeface="Calibri"/>
                <a:cs typeface="Calibri"/>
              </a:rPr>
              <a:t>Добірка онлайн-курсів і настанов зі штучного інтелекту для учасників програми PROJECT LAB (Centre SIPD). Від базового розуміння до етики грантів ЄС.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9642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11568DBD-6D4B-4CED-9AE7-11481C5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33819BF2-B8CB-44F4-876B-8EC8F9BE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Структура навчальних ресурсів: Карта курсу</a:t>
            </a:r>
            <a:endParaRPr/>
          </a:p>
        </p:txBody>
      </p:sp>
      <p:graphicFrame>
        <p:nvGraphicFrame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529A90CC-ECD5-4A6C-84E7-181779353B46}"/>
              </a:ext>
            </a:extLst>
          </p:cNvPr>
          <p:cNvGraphicFramePr/>
          <p:nvPr/>
        </p:nvGraphicFramePr>
        <p:xfrm>
          <a:off xmlns:a="http://schemas.openxmlformats.org/drawingml/2006/main" x="457200" y="16459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{95C527E2-98D0-4977-A59E-6C146F718308}</a:tableStyleId>
              </a:tblPr>
              <a:tblGrid>
                <a:gridCol w="1645925"/>
                <a:gridCol w="3200400"/>
                <a:gridCol w="3840475"/>
                <a:gridCol w="2590500"/>
              </a:tblGrid>
              <a:tr h="82295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Рівень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Навчальний блок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Фокус навчання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Очікуваний результат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0B1D3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none" strike="noStrike" cap="none">
                          <a:solidFill>
                            <a:srgbClr val="0E749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Рівень 1: Базовий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Основи та концепції ШІ</a:t>
                      </a:r>
                      <a:b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(AI for Everyone, Elements of AI)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Розуміння принципів машинного навчання, нейромереж та можливостей ШІ.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Свідоме володіння термінологією, оцінка реалістичності ШІ-рішень.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none" strike="noStrike" cap="none">
                          <a:solidFill>
                            <a:srgbClr val="0E749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Рівень 2: Практичний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Робота з промптами</a:t>
                      </a:r>
                      <a:b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(OpenAI, LearnPrompting)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Техніки Prompt Engineering, фреймворки (Chain-of-Thought) для генерації.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Вміння писати чіткі інструкції для підготовки розділів Work Packages.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none" strike="noStrike" cap="none">
                          <a:solidFill>
                            <a:srgbClr val="0E749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Рівень 3: Поглиблений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Технічні мікрокурси</a:t>
                      </a:r>
                      <a:b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(Google Cloud GenAI Path)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Робота з великими мовними моделями (LLM) та інтеграція штучного інтелекту.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Розширення ІТ-експертизи для розробки складних інноваційних проєктів.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none" strike="noStrike" cap="none">
                          <a:solidFill>
                            <a:srgbClr val="0E749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Регулювання ЄС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ШІ в заявках Erasmus+</a:t>
                      </a:r>
                      <a:b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(Настанови Єврокомісії, AI Act)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Правила прозорості, академічна доброчесність, етичні ліміти та ризики.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u="none" strike="noStrike" cap="none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Заявки без плагіату, що повністю відповідають вимогам EU AI Act.</a:t>
                      </a:r>
                      <a:endParaRPr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748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15">
            <a:extLst xmlns:a="http://schemas.openxmlformats.org/drawingml/2006/main">
              <a:ext uri="{FF2B5EF4-FFF2-40B4-BE49-F238E27FC236}">
                <a16:creationId xmlns:a16="http://schemas.microsoft.com/office/drawing/2014/main" id="{C3450E0D-F93A-4FDE-8997-7E38B8F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99" name="Google Shape;99;p15">
            <a:extLst xmlns:a="http://schemas.openxmlformats.org/drawingml/2006/main">
              <a:ext uri="{FF2B5EF4-FFF2-40B4-BE49-F238E27FC236}">
                <a16:creationId xmlns:a16="http://schemas.microsoft.com/office/drawing/2014/main" id="{D58C707F-3B06-4E41-9640-F92CEF78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Рівень 1: Курс «AI for Everyone» (Andrew Ng)</a:t>
            </a:r>
            <a:endParaRPr/>
          </a:p>
        </p:txBody>
      </p:sp>
      <p:sp>
        <p:nvSpPr>
          <p:cNvPr id="100" name="Google Shape;100;p15">
            <a:extLst xmlns:a="http://schemas.openxmlformats.org/drawingml/2006/main">
              <a:ext uri="{FF2B5EF4-FFF2-40B4-BE49-F238E27FC236}">
                <a16:creationId xmlns:a16="http://schemas.microsoft.com/office/drawing/2014/main" id="{E9966D60-C23A-4FE3-88B0-114099AA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5" y="1212600"/>
            <a:ext cx="11521800" cy="363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Легендарний базовий інтенсив від світового експерта Ендрю Нг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Тривалість курсу: ~6 годин (самостійний темп на платформі Coursera).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Для кого: розроблено спеціально для нетехнічних фахівців, менеджерів та аплікантів проєктів.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Суть навчання: розвінчує міфи навколо ШІ, пояснює різницю між Data Science, штучним інтелектом та Machine Learning.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Проєктний фокус: вчить будувати стратегію впровадження ШІ в організації та оцінювати життєздатність технічних ідей.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Головний висновок: ви навчитеся чітко розуміти, що ШІ дійсно може зробити, а що є технічно неможливим на сьогодні.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4830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85C7ED3D-81C0-401A-9F12-3C1208F7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3ACDB9BC-1F11-452B-BA70-9663B3C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Рівень 1: Інтерактивний курс «Elements of AI»</a:t>
            </a:r>
            <a:endParaRPr/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1C52578F-4BC3-460C-A38A-536A77E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50"/>
            <a:ext cx="11277300" cy="363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Фінська національна ініціатива від University of Helsinki &amp; Reaktor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Тривалість курсу: ~30 годин детального інтерактивного розбору концепцій.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Формат: безкоштовний курс, що поєднує теоретичні міні-модулі та практичні завдання/тести.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Зміст: охоплює базові алгоритми, вирішення завдань за допомогою ШІ, основи ймовірностей та роботу нейромереж.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Суспільний вимір: курс створено для демократизації знань про ШІ, щоб кожен громадянин розумів вплив технологій.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Цінність для PROJECT LAB: допомагає сформувати системне бачення етичних та суспільних викликів, пов'язаних із автоматизацією.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157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17">
            <a:extLst xmlns:a="http://schemas.openxmlformats.org/drawingml/2006/main">
              <a:ext uri="{FF2B5EF4-FFF2-40B4-BE49-F238E27FC236}">
                <a16:creationId xmlns:a16="http://schemas.microsoft.com/office/drawing/2014/main" id="{F89E20A7-7E84-4040-9652-45740F4A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13" name="Google Shape;113;p17">
            <a:extLst xmlns:a="http://schemas.openxmlformats.org/drawingml/2006/main">
              <a:ext uri="{FF2B5EF4-FFF2-40B4-BE49-F238E27FC236}">
                <a16:creationId xmlns:a16="http://schemas.microsoft.com/office/drawing/2014/main" id="{D55A04E5-7800-4165-A94A-F9B5146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Рівень 2: «ChatGPT Prompt Engineering for Developers»</a:t>
            </a:r>
            <a:endParaRPr/>
          </a:p>
        </p:txBody>
      </p:sp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3265C796-C9D9-48F3-859A-13C6890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1142995"/>
            <a:ext cx="11277300" cy="44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Практичний воркшоп від OpenAI та DeepLearning.AI</a:t>
            </a:r>
            <a:endParaRPr sz="23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3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Тривалість курсу: 1–1.5 години (швидкий, концентрований практичний тренінг).</a:t>
            </a:r>
            <a:endParaRPr sz="23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3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Головна мета: навчання правилам побудови ефективних системних інструкцій та запитів до LLM.</a:t>
            </a:r>
            <a:endParaRPr sz="23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3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Ключові навички: створення промптів для сумаризації довгих текстів, перефразування, аналізу тональності та класифікації інформації.</a:t>
            </a:r>
            <a:endParaRPr sz="23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3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Ефективність запитів: розкриває внутрішні механізми моделей, вчить уникати розмитих відповідей та 'галюцинацій' ШІ.</a:t>
            </a:r>
            <a:endParaRPr sz="23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3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Застосування: автоматизація рутинної обробки первинної інформації під час підготовки проєктного бекграунду.</a:t>
            </a:r>
            <a:endParaRPr sz="23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17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42F90589-F794-463E-AAC2-E6DA04B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8694361C-8462-4727-9986-4B45F983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Рівень 2: Промптинг для розробки проєктів</a:t>
            </a:r>
            <a:endParaRPr/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4B612402-C54C-4DA9-87D9-5B358D59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11277300" cy="42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Використання відкритих гідів та передових фреймворків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Ресурс LearnPrompting.org: найбільший безкоштовний покроковий довідник із промптингу (від базового до просунутого рівня).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Фреймворк Chain-of-Thought (Ланцюжок думок): спонукає ШІ розбивати складні завдання на логічні кроки перед видачею фінального тексту.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Фреймворк Few-Shot Prompting: надання моделі кількох зразків (прикладів) тексту перед генерацією для отримання ідеального стилю.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Генерація структури: використання ШІ для структурування розділів Work Packages, побудови логіко-структурних матриць проєкту.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0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Критична оцінка: отримані результати ШІ слід сприймати виключно як чернетку, що вимагає глибокої перевірки та адаптації.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283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341F9844-F7F0-4859-B057-AC96E57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A7F5803B-C20E-4A0E-BC37-7924458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Рівень 3: «Google Cloud Generative AI Learning Path»</a:t>
            </a:r>
            <a:endParaRPr/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60E413E2-1C43-45C0-8F74-22AA94C1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2995"/>
            <a:ext cx="11277300" cy="409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Серія технічних мікрокурсів для розширення експертизи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Тривалість треку: ~10-12 годин (набір окремих взаємопов'язаних модулів).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Технічний фокус: знайомство з архітектурою Encoder-Decoder, моделями Transformer та інструментами Vertex AI.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Для кого: для команд, які планують ІТ-компоненти в проєктах або розробку власних цифрових рішень у межах грантів ЄС.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Суть навчання: розуміння того, як великі мовні моделі навчаються, розгортаються та інтегруються у реальні програми.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Результат: отримання офіційних бейджів від Google Cloud, що значно підсилює технічне CV учасників проєктних груп.</a:t>
            </a:r>
            <a:endParaRPr sz="21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87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A9580C53-99DD-4F34-86CF-E82055C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33E2AFDA-454D-4D24-B6DD-F40C090A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ШІ в заявках Erasmus+ та програмах ЄС</a:t>
            </a:r>
            <a:endParaRPr/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0063B31A-39FB-4037-A42E-C88B1D84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11277300" cy="437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Ключові вимоги Європейської Комісії, етика та регулювання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Ethical Guidelines for Educators: офіційні етичні вказівки ЄК щодо використання ШІ та даних у навчанні й викладанні.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Закон про ШІ (EU AI Act): вимоги прозорості застосовуються у визначених законом випадках; перевіряйте контекст використання ШІ.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Академічна доброчесність: готуйте оригінальний текст, перевіряйте джерела та правила конкретного конкурсу щодо використання ШІ.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Ризики: шаблонні чи неперевірені тексти можуть не відображати реального досвіду команди та послаблювати заявку.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Золоте правило: ШІ — це асистент для структурування та брейнштормінгу, але контент проєкту має відображати реальний досвід команди.</a:t>
            </a:r>
            <a:endParaRPr sz="21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713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1">
            <a:extLst xmlns:a="http://schemas.openxmlformats.org/drawingml/2006/main">
              <a:ext uri="{FF2B5EF4-FFF2-40B4-BE49-F238E27FC236}">
                <a16:creationId xmlns:a16="http://schemas.microsoft.com/office/drawing/2014/main" id="{10864F68-400B-4392-9535-F61CCA7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41" name="Google Shape;141;p21">
            <a:extLst xmlns:a="http://schemas.openxmlformats.org/drawingml/2006/main">
              <a:ext uri="{FF2B5EF4-FFF2-40B4-BE49-F238E27FC236}">
                <a16:creationId xmlns:a16="http://schemas.microsoft.com/office/drawing/2014/main" id="{9BDA4F98-B74F-4B2A-BDB9-A8DF139D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Рекомендації для учасників PROJECT LAB</a:t>
            </a:r>
            <a:endParaRPr/>
          </a:p>
        </p:txBody>
      </p:sp>
      <p:sp>
        <p:nvSpPr>
          <p:cNvPr id="142" name="Google Shape;142;p21">
            <a:extLst xmlns:a="http://schemas.openxmlformats.org/drawingml/2006/main">
              <a:ext uri="{FF2B5EF4-FFF2-40B4-BE49-F238E27FC236}">
                <a16:creationId xmlns:a16="http://schemas.microsoft.com/office/drawing/2014/main" id="{D8CCE2B8-D3D7-4BA9-AE76-1DB3B76E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50" y="1280150"/>
            <a:ext cx="11439600" cy="44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Практичні правила безпечної та ефективної роботи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Валідація фактів (Fact-checking): завжди перевіряйте статистику, посилання та нормативні акти, згенеровані моделями.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Конфіденційність та інтелектуальна власність: ЗАБОРОНЕНО завантажувати в ШІ внутрішні дані партнерів чи персональні дані.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Кастомізація контенту: адаптуйте кожен абзац під специфіку вашого закладу (АПСВТ) та локальний контекст України.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Фокус на інноваціях: використовуйте ШІ для генерації альтернативних ідей розповсюдження результатів (Dissemination).</a:t>
            </a:r>
            <a:endParaRPr sz="21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21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Формула успіху в Erasmus+: Поєднання глибокої експертизи команди АПСВТ та технологічної швидкості ШІ.</a:t>
            </a:r>
            <a:endParaRPr sz="21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9987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22">
            <a:extLst xmlns:a="http://schemas.openxmlformats.org/drawingml/2006/main">
              <a:ext uri="{FF2B5EF4-FFF2-40B4-BE49-F238E27FC236}">
                <a16:creationId xmlns:a16="http://schemas.microsoft.com/office/drawing/2014/main" id="{3E574D9A-BB82-403A-B58D-6E73E2A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АПСВТ | ВІДДІЛ МІЖНАРОДНОГО СПІВРОБІТНИЦТВА | PROJECT LAB</a:t>
            </a:r>
            <a:endParaRPr/>
          </a:p>
        </p:txBody>
      </p:sp>
      <p:sp>
        <p:nvSpPr>
          <p:cNvPr id="148" name="Google Shape;148;p22">
            <a:extLst xmlns:a="http://schemas.openxmlformats.org/drawingml/2006/main">
              <a:ext uri="{FF2B5EF4-FFF2-40B4-BE49-F238E27FC236}">
                <a16:creationId xmlns:a16="http://schemas.microsoft.com/office/drawing/2014/main" id="{2A7AB0B0-372B-4DDC-9D2F-819C195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1127729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0B1D3A"/>
                </a:solidFill>
                <a:latin typeface="Calibri"/>
                <a:ea typeface="Calibri"/>
                <a:cs typeface="Calibri"/>
              </a:rPr>
              <a:t>Висновки та корисні лінки</a:t>
            </a:r>
            <a:endParaRPr/>
          </a:p>
        </p:txBody>
      </p:sp>
      <p:sp>
        <p:nvSpPr>
          <p:cNvPr id="149" name="Google Shape;149;p22">
            <a:extLst xmlns:a="http://schemas.openxmlformats.org/drawingml/2006/main">
              <a:ext uri="{FF2B5EF4-FFF2-40B4-BE49-F238E27FC236}">
                <a16:creationId xmlns:a16="http://schemas.microsoft.com/office/drawing/2014/main" id="{2BD1CF3D-4CBB-4A51-8E45-9986AF2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0" cy="31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Офіційні першоджерела ЄК: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• European Education Area (Етичні настанови ЄК щодо ШІ)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• Shaping Europe’s digital future (EU AI Act та прозорість)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• Національний офіс Erasmus+ в Україні (Цифрові пріоритети)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Освітні платформи: Coursera, DeepLearning.AI, LearnPrompting.org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0" name="Google Shape;150;p22">
            <a:extLst xmlns:a="http://schemas.openxmlformats.org/drawingml/2006/main">
              <a:ext uri="{FF2B5EF4-FFF2-40B4-BE49-F238E27FC236}">
                <a16:creationId xmlns:a16="http://schemas.microsoft.com/office/drawing/2014/main" id="{076A61E2-54C8-4B5D-9F07-B8C7935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63040"/>
            <a:ext cx="5486400" cy="24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0B1D3A"/>
                </a:solidFill>
                <a:latin typeface="Times New Roman"/>
                <a:ea typeface="Times New Roman"/>
                <a:cs typeface="Times New Roman"/>
              </a:rPr>
              <a:t>Контакти організатора: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8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Академія праці, соціальних відносин і туризму (АПСВТ)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8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Відділ міжнародного співробітництва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Веб-сторінка: www.socosvita.kiev.ua/international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0E7490"/>
                </a:solidFill>
                <a:latin typeface="Times New Roman"/>
                <a:ea typeface="Times New Roman"/>
                <a:cs typeface="Times New Roman"/>
              </a:rPr>
              <a:t>Електронна пошта: inz@socosvita.kiev.ua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800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</a:rPr>
              <a:t>Адреса: м. Київ, Кільцева дорога, 3-А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91293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2026-10-13T14:30:20.5590000Z</dcterms:created>
  <dcterms:modified xsi:type="dcterms:W3CDTF">2026-10-13T14:30:20.5590000Z</dcterms:modified>
</coreProperties>
</file>